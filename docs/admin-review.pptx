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3810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AI 研发管理平台</a:t>
            </a:r>
            <a:endParaRPr sz="5400" b="1">
              <a:solidFill>
                <a:srgbClr val="FFFFFF"/>
              </a:solidFill>
            </a:endParaRPr>
          </a:p>
          <a:p>
            <a:r>
              <a:rPr sz="2600" b="0">
                <a:solidFill>
                  <a:srgbClr val="BDD7EE"/>
                </a:solidFill>
              </a:rPr>
              <a:t>立项评审 · 需求方案与项目计划</a:t>
            </a:r>
            <a:endParaRPr sz="2600" b="0">
              <a:solidFill>
                <a:srgbClr val="BDD7EE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>
                <a:solidFill>
                  <a:srgbClr val="D6E4F0"/>
                </a:solidFill>
              </a:rPr>
              <a:t>业务 → 产品 → 开发 → 测试 → 验收 → 上线 全流程 AI 驱动</a:t>
            </a:r>
            <a:endParaRPr sz="1600" b="0">
              <a:solidFill>
                <a:srgbClr val="D6E4F0"/>
              </a:solidFill>
            </a:endParaRPr>
          </a:p>
          <a:p>
            <a:r>
              <a:rPr sz="1600" b="0">
                <a:solidFill>
                  <a:srgbClr val="D6E4F0"/>
                </a:solidFill>
              </a:rPr>
              <a:t>需求文档 v1.1 · 2026 年 7 月</a:t>
            </a:r>
            <a:endParaRPr sz="1600" b="0">
              <a:solidFill>
                <a:srgbClr val="D6E4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为什么做：现状与痛点</a:t>
            </a:r>
            <a:endParaRPr sz="2800" b="1">
              <a:solidFill>
                <a:srgbClr val="1F4E79"/>
              </a:solidFill>
            </a:endParaRPr>
          </a:p>
          <a:p>
            <a:r>
              <a:rPr sz="1300" b="0">
                <a:solidFill>
                  <a:srgbClr val="595959"/>
                </a:solidFill>
              </a:rPr>
              <a:t>现状：Excel 提需求 → 反复人工沟通 → TAPD 流转 → 开发读代码评估可行性（1~3 天）</a:t>
            </a:r>
            <a:endParaRPr sz="1300" b="0">
              <a:solidFill>
                <a:srgbClr val="5959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566160"/>
                <a:gridCol w="3566160"/>
              </a:tblGrid>
              <a:tr h="65836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痛点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根因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影响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沟通成本大：可行性判断靠开发人工读存量代码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业务逻辑只存在于代码与开发人员脑中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评估周期 1~3 天，占用核心开发人力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孤岛：产品/研发/测试各自用 AI，互不打通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缺少统一平台承载 AI 产物与流程状态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结果无法复用，上下游信息衰减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需求入口不结构化（Excel 提报）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无结构化</a:t>
                      </a:r>
                      <a:r>
                        <a:rPr lang="zh-CN" sz="1300" b="0">
                          <a:solidFill>
                            <a:srgbClr val="262626"/>
                          </a:solidFill>
                        </a:rPr>
                        <a:t>业务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需求入口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澄清轮次多，遗漏与返工频发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效能数据分散（TAPD / IM / 口头）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无统一数据底座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研发效能与瓶颈无法量化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800600"/>
            <a:ext cx="11338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4E79"/>
                </a:solidFill>
              </a:rPr>
              <a:t>▪  结论：问题不在“有没有用 AI”，而在 AI 能力没有串成一条研发流水线</a:t>
            </a:r>
            <a:endParaRPr sz="1700" b="1">
              <a:solidFill>
                <a:srgbClr val="1F4E79"/>
              </a:solidFill>
            </a:endParaRP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</a:rPr>
              <a:t>▪  机会：让 AI 掌握存量业务代码知识，把“分析 → 生成 → 落地 → 验证”接入需求流转本身</a:t>
            </a:r>
            <a:endParaRPr sz="17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项目目标（量化）</a:t>
            </a:r>
            <a:endParaRPr sz="2800" b="1">
              <a:solidFill>
                <a:srgbClr val="1F4E79"/>
              </a:solidFill>
            </a:endParaRPr>
          </a:p>
          <a:p>
            <a:r>
              <a:rPr sz="1300" b="0">
                <a:solidFill>
                  <a:srgbClr val="595959"/>
                </a:solidFill>
              </a:rPr>
              <a:t>上线后 6 个月的度量口径</a:t>
            </a:r>
            <a:endParaRPr sz="1300" b="0">
              <a:solidFill>
                <a:srgbClr val="5959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2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60" cy="396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2237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目标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指标</a:t>
                      </a:r>
                      <a:endParaRPr sz="15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降低需求沟通成本</a:t>
                      </a:r>
                      <a:endParaRPr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需求澄清平均耗时下降 ≥ 50%</a:t>
                      </a:r>
                      <a:endParaRPr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需求交付</a:t>
                      </a:r>
                      <a:r>
                        <a:rPr lang="zh-CN" sz="1500" b="0">
                          <a:solidFill>
                            <a:srgbClr val="262626"/>
                          </a:solidFill>
                        </a:rPr>
                        <a:t>吞吐率</a:t>
                      </a:r>
                      <a:endParaRPr lang="zh-CN"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500" b="0">
                          <a:solidFill>
                            <a:srgbClr val="262626"/>
                          </a:solidFill>
                        </a:rPr>
                        <a:t>人均</a:t>
                      </a:r>
                      <a:r>
                        <a:rPr sz="1500" b="0">
                          <a:solidFill>
                            <a:srgbClr val="262626"/>
                          </a:solidFill>
                        </a:rPr>
                        <a:t>需求</a:t>
                      </a:r>
                      <a:r>
                        <a:rPr lang="zh-CN" sz="1500">
                          <a:solidFill>
                            <a:srgbClr val="262626"/>
                          </a:solidFill>
                          <a:sym typeface="+mn-ea"/>
                        </a:rPr>
                        <a:t>吞吐率提示</a:t>
                      </a:r>
                      <a:r>
                        <a:rPr lang="en-US" altLang="zh-CN" sz="1500">
                          <a:solidFill>
                            <a:srgbClr val="262626"/>
                          </a:solidFill>
                          <a:sym typeface="+mn-ea"/>
                        </a:rPr>
                        <a:t> </a:t>
                      </a:r>
                      <a:r>
                        <a:rPr sz="1500" b="0">
                          <a:solidFill>
                            <a:srgbClr val="262626"/>
                          </a:solidFill>
                        </a:rPr>
                        <a:t>≥ 30%</a:t>
                      </a:r>
                      <a:endParaRPr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提升可行性评估效率</a:t>
                      </a:r>
                      <a:endParaRPr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AI 可行性分析 ≤ </a:t>
                      </a:r>
                      <a:r>
                        <a:rPr lang="en-US" sz="1500" b="0">
                          <a:solidFill>
                            <a:srgbClr val="262626"/>
                          </a:solidFill>
                        </a:rPr>
                        <a:t>12</a:t>
                      </a:r>
                      <a:r>
                        <a:rPr sz="1500" b="0">
                          <a:solidFill>
                            <a:srgbClr val="262626"/>
                          </a:solidFill>
                        </a:rPr>
                        <a:t>0 分钟（现状：人工评估 1~3 天）</a:t>
                      </a:r>
                      <a:endParaRPr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流程全线上化</a:t>
                      </a:r>
                      <a:endParaRPr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≥ 90% 需求全程在平台流转，替代 Excel / TAPD</a:t>
                      </a:r>
                      <a:r>
                        <a:rPr lang="en-US" sz="1500">
                          <a:solidFill>
                            <a:srgbClr val="262626"/>
                          </a:solidFill>
                          <a:sym typeface="+mn-ea"/>
                        </a:rPr>
                        <a:t> </a:t>
                      </a:r>
                      <a:endParaRPr lang="en-US"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AI 产出可用</a:t>
                      </a:r>
                      <a:endParaRPr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2626"/>
                          </a:solidFill>
                        </a:rPr>
                        <a:t>AI 生成文档/用例经人工修订后采纳率 ≥ 70%</a:t>
                      </a:r>
                      <a:endParaRPr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p>
                      <a:r>
                        <a:rPr lang="zh-CN" sz="1500" b="0">
                          <a:solidFill>
                            <a:srgbClr val="262626"/>
                          </a:solidFill>
                        </a:rPr>
                        <a:t>节省</a:t>
                      </a:r>
                      <a:r>
                        <a:rPr lang="en-US" altLang="zh-CN" sz="1500" b="0">
                          <a:solidFill>
                            <a:srgbClr val="262626"/>
                          </a:solidFill>
                        </a:rPr>
                        <a:t>Token</a:t>
                      </a:r>
                      <a:r>
                        <a:rPr lang="zh-CN" altLang="en-US" sz="1500" b="0">
                          <a:solidFill>
                            <a:srgbClr val="262626"/>
                          </a:solidFill>
                        </a:rPr>
                        <a:t>用量</a:t>
                      </a:r>
                      <a:endParaRPr lang="zh-CN" altLang="en-US"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sz="1500" b="0">
                          <a:solidFill>
                            <a:srgbClr val="262626"/>
                          </a:solidFill>
                        </a:rPr>
                        <a:t>统一使用平台提供</a:t>
                      </a:r>
                      <a:r>
                        <a:rPr lang="en-US" altLang="zh-CN" sz="1500" b="0">
                          <a:solidFill>
                            <a:srgbClr val="262626"/>
                          </a:solidFill>
                        </a:rPr>
                        <a:t>AI</a:t>
                      </a:r>
                      <a:r>
                        <a:rPr lang="zh-CN" altLang="en-US" sz="1500" b="0">
                          <a:solidFill>
                            <a:srgbClr val="262626"/>
                          </a:solidFill>
                        </a:rPr>
                        <a:t>能力</a:t>
                      </a:r>
                      <a:r>
                        <a:rPr lang="en-US" altLang="zh-CN" sz="1500" b="0">
                          <a:solidFill>
                            <a:srgbClr val="262626"/>
                          </a:solidFill>
                        </a:rPr>
                        <a:t>，</a:t>
                      </a:r>
                      <a:r>
                        <a:rPr lang="zh-CN" altLang="en-US" sz="1500" b="0">
                          <a:solidFill>
                            <a:srgbClr val="262626"/>
                          </a:solidFill>
                        </a:rPr>
                        <a:t>降低</a:t>
                      </a:r>
                      <a:r>
                        <a:rPr lang="en-US" altLang="zh-CN" sz="1500" b="0">
                          <a:solidFill>
                            <a:srgbClr val="262626"/>
                          </a:solidFill>
                        </a:rPr>
                        <a:t>Token</a:t>
                      </a:r>
                      <a:r>
                        <a:rPr lang="zh-CN" altLang="en-US" sz="1500" b="0">
                          <a:solidFill>
                            <a:srgbClr val="262626"/>
                          </a:solidFill>
                        </a:rPr>
                        <a:t>用量</a:t>
                      </a:r>
                      <a:r>
                        <a:rPr lang="en-US" altLang="zh-CN" sz="1500" b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sz="1500">
                          <a:solidFill>
                            <a:srgbClr val="262626"/>
                          </a:solidFill>
                          <a:sym typeface="+mn-ea"/>
                        </a:rPr>
                        <a:t>≥ </a:t>
                      </a:r>
                      <a:r>
                        <a:rPr lang="en-US" sz="1500">
                          <a:solidFill>
                            <a:srgbClr val="262626"/>
                          </a:solidFill>
                          <a:sym typeface="+mn-ea"/>
                        </a:rPr>
                        <a:t>1</a:t>
                      </a:r>
                      <a:r>
                        <a:rPr sz="1500">
                          <a:solidFill>
                            <a:srgbClr val="262626"/>
                          </a:solidFill>
                          <a:sym typeface="+mn-ea"/>
                        </a:rPr>
                        <a:t>0%</a:t>
                      </a:r>
                      <a:endParaRPr lang="en-US" altLang="zh-CN" sz="15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568315"/>
            <a:ext cx="11338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</a:rPr>
              <a:t>▪  对业务方：提出即有反馈；对产品：聚焦价值判断；对研发/测试：带上下文交付；对管理层：效能可度量</a:t>
            </a:r>
            <a:endParaRPr sz="1400" b="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产品方案：目标流程（To-Be）</a:t>
            </a:r>
            <a:endParaRPr sz="2800" b="1">
              <a:solidFill>
                <a:srgbClr val="1F4E79"/>
              </a:solidFill>
            </a:endParaRPr>
          </a:p>
          <a:p>
            <a:r>
              <a:rPr sz="1300" b="0">
                <a:solidFill>
                  <a:srgbClr val="595959"/>
                </a:solidFill>
              </a:rPr>
              <a:t>平台内置全流程流转，完全替代 TAPD</a:t>
            </a:r>
            <a:endParaRPr sz="1300" b="0">
              <a:solidFill>
                <a:srgbClr val="5959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3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260604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业务提交</a:t>
            </a:r>
            <a:endParaRPr sz="1300" b="1">
              <a:solidFill>
                <a:srgbClr val="FFFFFF"/>
              </a:solidFill>
            </a:endParaRPr>
          </a:p>
          <a:p>
            <a:pPr algn="ctr"/>
            <a:r>
              <a:rPr sz="1100" b="0">
                <a:solidFill>
                  <a:srgbClr val="FFFFFF"/>
                </a:solidFill>
              </a:rPr>
              <a:t>结构化需求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17520" y="1719072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</a:rPr>
              <a:t>→</a:t>
            </a:r>
            <a:endParaRPr sz="1800" b="1">
              <a:solidFill>
                <a:srgbClr val="595959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73552" y="1463040"/>
            <a:ext cx="2606040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可行性分析</a:t>
            </a:r>
            <a:endParaRPr sz="1300" b="1">
              <a:solidFill>
                <a:srgbClr val="FFFFFF"/>
              </a:solidFill>
            </a:endParaRPr>
          </a:p>
          <a:p>
            <a:pPr algn="ctr"/>
            <a:r>
              <a:rPr sz="1100" b="0">
                <a:solidFill>
                  <a:srgbClr val="FFFFFF"/>
                </a:solidFill>
              </a:rPr>
              <a:t>(业务/代码/复杂度/范围)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79592" y="1719072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</a:rPr>
              <a:t>→</a:t>
            </a:r>
            <a:endParaRPr sz="1800" b="1">
              <a:solidFill>
                <a:srgbClr val="595959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35624" y="1463040"/>
            <a:ext cx="260604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线上评审会</a:t>
            </a:r>
            <a:endParaRPr sz="1300" b="1">
              <a:solidFill>
                <a:srgbClr val="FFFFFF"/>
              </a:solidFill>
            </a:endParaRPr>
          </a:p>
          <a:p>
            <a:pPr algn="ctr"/>
            <a:r>
              <a:rPr sz="1100" b="0">
                <a:solidFill>
                  <a:srgbClr val="FFFFFF"/>
                </a:solidFill>
              </a:rPr>
              <a:t>(基于 AI 报告)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41664" y="1719072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</a:rPr>
              <a:t>→</a:t>
            </a:r>
            <a:endParaRPr sz="1800" b="1">
              <a:solidFill>
                <a:srgbClr val="595959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97696" y="1463040"/>
            <a:ext cx="2606040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生成需求</a:t>
            </a:r>
            <a:endParaRPr sz="1300" b="1">
              <a:solidFill>
                <a:srgbClr val="FFFFFF"/>
              </a:solidFill>
            </a:endParaRPr>
          </a:p>
          <a:p>
            <a:pPr algn="ctr"/>
            <a:r>
              <a:rPr sz="1100" b="0">
                <a:solidFill>
                  <a:srgbClr val="FFFFFF"/>
                </a:solidFill>
              </a:rPr>
              <a:t>设计与计划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3063240"/>
            <a:ext cx="2606040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辅助编码</a:t>
            </a:r>
            <a:endParaRPr sz="1300" b="1">
              <a:solidFill>
                <a:srgbClr val="FFFFFF"/>
              </a:solidFill>
            </a:endParaRPr>
          </a:p>
          <a:p>
            <a:pPr algn="ctr"/>
            <a:r>
              <a:rPr sz="1100" b="0">
                <a:solidFill>
                  <a:srgbClr val="FFFFFF"/>
                </a:solidFill>
              </a:rPr>
              <a:t>人工 Review 合入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17520" y="3319272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</a:rPr>
              <a:t>→</a:t>
            </a:r>
            <a:endParaRPr sz="1800" b="1">
              <a:solidFill>
                <a:srgbClr val="595959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73552" y="3063240"/>
            <a:ext cx="2606040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测试</a:t>
            </a:r>
            <a:endParaRPr sz="1300" b="1">
              <a:solidFill>
                <a:srgbClr val="FFFFFF"/>
              </a:solidFill>
            </a:endParaRPr>
          </a:p>
          <a:p>
            <a:pPr algn="ctr"/>
            <a:r>
              <a:rPr sz="1100" b="0">
                <a:solidFill>
                  <a:srgbClr val="FFFFFF"/>
                </a:solidFill>
              </a:rPr>
              <a:t>自动化执行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79592" y="3319272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</a:rPr>
              <a:t>→</a:t>
            </a:r>
            <a:endParaRPr sz="1800" b="1">
              <a:solidFill>
                <a:srgbClr val="595959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5624" y="3063240"/>
            <a:ext cx="260604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UAT / PRE</a:t>
            </a:r>
            <a:endParaRPr sz="1300" b="1">
              <a:solidFill>
                <a:srgbClr val="FFFFFF"/>
              </a:solidFill>
            </a:endParaRPr>
          </a:p>
          <a:p>
            <a:pPr algn="ctr"/>
            <a:r>
              <a:rPr sz="1100" b="0">
                <a:solidFill>
                  <a:srgbClr val="FFFFFF"/>
                </a:solidFill>
              </a:rPr>
              <a:t>业务验收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41664" y="3319272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95959"/>
                </a:solidFill>
              </a:rPr>
              <a:t>→</a:t>
            </a:r>
            <a:endParaRPr sz="1800" b="1">
              <a:solidFill>
                <a:srgbClr val="595959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97696" y="3063240"/>
            <a:ext cx="2606040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发布上线</a:t>
            </a:r>
            <a:endParaRPr sz="1300" b="1">
              <a:solidFill>
                <a:srgbClr val="FFFFFF"/>
              </a:solidFill>
            </a:endParaRPr>
          </a:p>
          <a:p>
            <a:pPr algn="ctr"/>
            <a:r>
              <a:rPr sz="1100" b="0">
                <a:solidFill>
                  <a:srgbClr val="FFFFFF"/>
                </a:solidFill>
              </a:rPr>
              <a:t>数据沉淀</a:t>
            </a:r>
            <a:endParaRPr sz="1100" b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" y="4892040"/>
            <a:ext cx="11338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▪  关键差异：每个流转节点原生绑定 AI 产物（分析报告 / 文档 / 代码变更 / 测试结果）</a:t>
            </a:r>
            <a:endParaRPr sz="1500" b="1">
              <a:solidFill>
                <a:srgbClr val="1F4E79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▪  流转的不只是状态，还有完整上下文——这是内置流转比外部工具（TAPD）更适合 AI 协作的原因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</a:rPr>
              <a:t>▪  深色节点为 AI Agent 驱动环节；全部 AI 产出遵循「AI 起草、人工把关」</a:t>
            </a:r>
            <a:endParaRPr sz="1500" b="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功能全景：11 个模块 · 50+ 需求项</a:t>
            </a:r>
            <a:endParaRPr sz="2800" b="1">
              <a:solidFill>
                <a:srgbClr val="1F4E79"/>
              </a:solidFill>
            </a:endParaRPr>
          </a:p>
          <a:p>
            <a:r>
              <a:rPr sz="1300" b="0">
                <a:solidFill>
                  <a:srgbClr val="595959"/>
                </a:solidFill>
              </a:rPr>
              <a:t>P0 首版必须 / P1 重要 / P2 增强</a:t>
            </a:r>
            <a:endParaRPr sz="1300" b="0">
              <a:solidFill>
                <a:srgbClr val="5959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4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6118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流程域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3611880" cy="35661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</a:rPr>
              <a:t>▪ 需求管理中心（状态机/主子需求/双向关联）</a:t>
            </a:r>
            <a:endParaRPr sz="13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</a:rPr>
              <a:t>▪ 评审协作（发起/结论/纪要）</a:t>
            </a:r>
            <a:endParaRPr sz="13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</a:rPr>
              <a:t>▪ 环境流转与发布（UAT/PRE/生产）</a:t>
            </a:r>
            <a:endParaRPr sz="1300" b="0">
              <a:solidFill>
                <a:srgbClr val="26262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118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97680" y="1737360"/>
            <a:ext cx="3611880" cy="35661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</a:rPr>
              <a:t>▪ AI 可行性分析（业务/代码/复杂度/范围）</a:t>
            </a:r>
            <a:endParaRPr sz="13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300" b="0">
                <a:solidFill>
                  <a:srgbClr val="262626"/>
                </a:solidFill>
              </a:rPr>
              <a:t>   </a:t>
            </a:r>
            <a:r>
              <a:rPr sz="1300" b="0">
                <a:solidFill>
                  <a:srgbClr val="262626"/>
                </a:solidFill>
              </a:rPr>
              <a:t>▪ AI 需求与设计生成（文档/计划/分派）</a:t>
            </a:r>
            <a:endParaRPr sz="13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300" b="0">
                <a:solidFill>
                  <a:srgbClr val="262626"/>
                </a:solidFill>
              </a:rPr>
              <a:t>   </a:t>
            </a:r>
            <a:r>
              <a:rPr sz="1300" b="0">
                <a:solidFill>
                  <a:srgbClr val="262626"/>
                </a:solidFill>
              </a:rPr>
              <a:t>▪ AI 编码与云开发（Agent+工作台）</a:t>
            </a:r>
            <a:endParaRPr sz="13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300" b="0">
                <a:solidFill>
                  <a:srgbClr val="262626"/>
                </a:solidFill>
              </a:rPr>
              <a:t>   </a:t>
            </a:r>
            <a:r>
              <a:rPr sz="1300" b="0">
                <a:solidFill>
                  <a:srgbClr val="262626"/>
                </a:solidFill>
              </a:rPr>
              <a:t>▪ AI 测试（用例/自动化/缺陷）</a:t>
            </a:r>
            <a:endParaRPr sz="13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300" b="0">
                <a:solidFill>
                  <a:srgbClr val="262626"/>
                </a:solidFill>
              </a:rPr>
              <a:t>   </a:t>
            </a:r>
            <a:r>
              <a:rPr sz="1300" b="0">
                <a:solidFill>
                  <a:srgbClr val="262626"/>
                </a:solidFill>
              </a:rPr>
              <a:t>▪ 翻译 Agent（国际化）</a:t>
            </a:r>
            <a:endParaRPr sz="1300" b="0">
              <a:solidFill>
                <a:srgbClr val="262626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83880" y="1280160"/>
            <a:ext cx="36118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支撑域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83880" y="1737360"/>
            <a:ext cx="3611880" cy="35661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</a:rPr>
              <a:t>▪ 代码知识库（索引/向量化/Wiki/调用链）</a:t>
            </a:r>
            <a:endParaRPr sz="13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</a:rPr>
              <a:t>▪ 统计与效能报表（需求/交付/AI 度量）</a:t>
            </a:r>
            <a:endParaRPr sz="13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</a:rPr>
              <a:t>▪ 系统管理（RBAC/SSO/模型配置/审计）</a:t>
            </a:r>
            <a:endParaRPr sz="1300" b="0">
              <a:solidFill>
                <a:srgbClr val="26262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55321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▪  7 个月主线只保 P0；P1 视人效带出；P2 移入持续迭代 backlog</a:t>
            </a:r>
            <a:endParaRPr sz="1500" b="1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核心能力①：内置需求流转（替代 TAPD）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5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13385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262626"/>
                </a:solidFill>
              </a:rPr>
              <a:t>▪  全生命周期状态机：草稿→待分析→分析完成→评审中→已排期→开发中→测试中→待验收→已上线</a:t>
            </a:r>
            <a:endParaRPr sz="1700" b="1">
              <a:solidFill>
                <a:srgbClr val="262626"/>
              </a:solidFill>
            </a:endParaRP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262626"/>
                </a:solidFill>
              </a:rPr>
              <a:t>–  每次流转留痕：操作人 / 时间 / 意见 / 关联 AI 产物 ID，全程可审计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62626"/>
                </a:solidFill>
              </a:rPr>
              <a:t>▪  主/子需求树：业务需求拆分为多系统子需求，父需求进度自动汇总</a:t>
            </a:r>
            <a:endParaRPr sz="1700" b="1">
              <a:solidFill>
                <a:srgbClr val="262626"/>
              </a:solidFill>
            </a:endParaRP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62626"/>
                </a:solidFill>
              </a:rPr>
              <a:t>▪  业务需求 ↔ 系统需求 ↔ 代码变更 ↔ 测试结果 双向关联与追溯</a:t>
            </a:r>
            <a:endParaRPr sz="1700" b="1">
              <a:solidFill>
                <a:srgbClr val="262626"/>
              </a:solidFill>
            </a:endParaRP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F4E79"/>
                </a:solidFill>
              </a:rPr>
              <a:t>▪  为什么不继续用 TAPD？</a:t>
            </a:r>
            <a:endParaRPr sz="1700" b="1">
              <a:solidFill>
                <a:srgbClr val="1F4E79"/>
              </a:solidFill>
            </a:endParaRP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262626"/>
                </a:solidFill>
              </a:rPr>
              <a:t>–  自研状态机的状态模型完全自主可控，才能让每个节点绑定 AI 产物</a:t>
            </a:r>
            <a:endParaRPr sz="1500" b="0">
              <a:solidFill>
                <a:srgbClr val="262626"/>
              </a:solidFill>
            </a:endParaRP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262626"/>
                </a:solidFill>
              </a:rPr>
              <a:t>–  AI 分析/生成的上下文随流程流动，下游无需重新收集信息</a:t>
            </a:r>
            <a:endParaRPr sz="1500" b="0">
              <a:solidFill>
                <a:srgbClr val="262626"/>
              </a:solidFill>
            </a:endParaRP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262626"/>
                </a:solidFill>
              </a:rPr>
              <a:t>–  存量 TAPD 数据二期一次性迁移后正式下线（保留只读归档），不做长期双轨</a:t>
            </a:r>
            <a:endParaRPr sz="15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核心能力②：AI 可行性分析</a:t>
            </a:r>
            <a:endParaRPr sz="2800" b="1">
              <a:solidFill>
                <a:srgbClr val="1F4E79"/>
              </a:solidFill>
            </a:endParaRPr>
          </a:p>
          <a:p>
            <a:r>
              <a:rPr sz="1300" b="0">
                <a:solidFill>
                  <a:srgbClr val="595959"/>
                </a:solidFill>
              </a:rPr>
              <a:t>一期交付核心，评审会的决策材料</a:t>
            </a:r>
            <a:endParaRPr sz="1300" b="0">
              <a:solidFill>
                <a:srgbClr val="5959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6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412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分析维度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输出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业务可行性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业务合理性、与现有功能的重叠/冲突、相似历史需求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代码可行性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涉及系统/模块清单、现有逻辑摘要、冲突点、改动面（RAG + 调用链追踪）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复杂度评估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S/M/L/XL 分级 + 依据 + 人天区间参考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系统范围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系统边界与上下游依赖、影响面图谱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023360"/>
            <a:ext cx="11338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▪  报告可信三件套：索引时间戳 + 代码出处引用（文件/行号）+ 置信度标注</a:t>
            </a:r>
            <a:endParaRPr sz="1500" b="1">
              <a:solidFill>
                <a:srgbClr val="1F4E79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▪  异步任务执行（进度实时推送），P95 ≤ 30 分钟；模型不可用时流程可人工继续，不阻塞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▪  人工反馈闭环：准确率持续度量与提示词迭代，黄金评测集（银河开单历史需求）驱动</a:t>
            </a:r>
            <a:endParaRPr sz="15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核心能力③：AI 生成与落地（二期、三期）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7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113385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F4E79"/>
                </a:solidFill>
              </a:rPr>
              <a:t>▪  AI 需求与设计生成（二期）</a:t>
            </a:r>
            <a:endParaRPr sz="1600" b="1">
              <a:solidFill>
                <a:srgbClr val="1F4E79"/>
              </a:solidFill>
            </a:endParaRP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</a:rPr>
              <a:t>–  系统需求文档、概要设计、主/子需求计划 AI 起草 → 产品经理修订定稿</a:t>
            </a:r>
            <a:endParaRPr sz="1400" b="0">
              <a:solidFill>
                <a:srgbClr val="262626"/>
              </a:solidFill>
            </a:endParaRP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</a:rPr>
              <a:t>–  AI 原稿与人工修订稿版本化 diff，采纳率可度量</a:t>
            </a:r>
            <a:endParaRPr sz="1400" b="0">
              <a:solidFill>
                <a:srgbClr val="262626"/>
              </a:solidFill>
            </a:endParaRP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4E79"/>
                </a:solidFill>
              </a:rPr>
              <a:t>▪  AI 编码 Agent + 自建云开发工作台（三期）</a:t>
            </a:r>
            <a:endParaRPr sz="1600" b="1">
              <a:solidFill>
                <a:srgbClr val="1F4E79"/>
              </a:solidFill>
            </a:endParaRP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</a:rPr>
              <a:t>–  以定稿需求 + 设计 + 关联代码为上下文，沙箱隔离生成代码变更（分支/commit/MR）</a:t>
            </a:r>
            <a:endParaRPr sz="1400" b="0">
              <a:solidFill>
                <a:srgbClr val="262626"/>
              </a:solidFill>
            </a:endParaRP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</a:rPr>
              <a:t>–  强制人工 Review 才可合入；全程可追溯到需求编号</a:t>
            </a:r>
            <a:endParaRPr sz="1400" b="0">
              <a:solidFill>
                <a:srgbClr val="262626"/>
              </a:solidFill>
            </a:endParaRP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</a:rPr>
              <a:t>–  工作台基于 code-server + K8s 弹性拉起（已决策自建）</a:t>
            </a:r>
            <a:endParaRPr sz="1400" b="0">
              <a:solidFill>
                <a:srgbClr val="262626"/>
              </a:solidFill>
            </a:endParaRP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4E79"/>
                </a:solidFill>
              </a:rPr>
              <a:t>▪  AI 测试（三期）</a:t>
            </a:r>
            <a:endParaRPr sz="1600" b="1">
              <a:solidFill>
                <a:srgbClr val="1F4E79"/>
              </a:solidFill>
            </a:endParaRP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262626"/>
                </a:solidFill>
              </a:rPr>
              <a:t>–  基于需求 + 代码 diff 生成用例与自动化脚本，结果回写驱动流转，失败自动建缺陷单</a:t>
            </a:r>
            <a:endParaRPr sz="1400" b="0">
              <a:solidFill>
                <a:srgbClr val="262626"/>
              </a:solidFill>
            </a:endParaRP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</a:rPr>
              <a:t>▪  统一原则：AI 起草、人工把关——采纳率达标后再逐步扩大自动化范围</a:t>
            </a:r>
            <a:endParaRPr sz="1600" b="1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技术架构（五层）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8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20116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前端层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14600" y="1234440"/>
            <a:ext cx="9235440" cy="640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62626"/>
                </a:solidFill>
              </a:rPr>
              <a:t>Nuxt/Vue Web 应用 + 云开发工作台（code-server）</a:t>
            </a:r>
            <a:endParaRPr sz="1300" b="0">
              <a:solidFill>
                <a:srgbClr val="26262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1984248"/>
            <a:ext cx="20116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应用服务层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984248"/>
            <a:ext cx="9235440" cy="640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62626"/>
                </a:solidFill>
              </a:rPr>
              <a:t>需求服务 / 流程引擎（自研状态机） / 评审 / 报表 / 权限 / 通知 / 集成网关（GitLab·CI·IM）</a:t>
            </a:r>
            <a:endParaRPr sz="1300" b="0">
              <a:solidFill>
                <a:srgbClr val="262626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2734056"/>
            <a:ext cx="20116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编排层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14600" y="2734056"/>
            <a:ext cx="9235440" cy="640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62626"/>
                </a:solidFill>
              </a:rPr>
              <a:t>Agent Runtime（任务队列 / 工具调用 / MCP）：可行性分析 · 需求生成 · 编码 · 测试 · 翻译</a:t>
            </a:r>
            <a:endParaRPr sz="1300" b="0">
              <a:solidFill>
                <a:srgbClr val="26262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" y="3483864"/>
            <a:ext cx="20116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知识层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4600" y="3483864"/>
            <a:ext cx="9235440" cy="640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62626"/>
                </a:solidFill>
              </a:rPr>
              <a:t>代码索引与向量检索 / 业务 Wiki / 调用链与字段溯源</a:t>
            </a:r>
            <a:endParaRPr sz="1300" b="0">
              <a:solidFill>
                <a:srgbClr val="26262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1480" y="4233672"/>
            <a:ext cx="20116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基础设施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14600" y="4233672"/>
            <a:ext cx="9235440" cy="6400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62626"/>
                </a:solidFill>
              </a:rPr>
              <a:t>MySQL / Redis / FAISS 向量索引 / 对象存储 / K8s（Agent 沙箱·工作台） / CI-CD / 监控</a:t>
            </a:r>
            <a:endParaRPr sz="1300" b="0">
              <a:solidFill>
                <a:srgbClr val="26262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" y="5120640"/>
            <a:ext cx="11338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▪  复用 deepwiki-open 存量能力：代码索引、Wiki 生成、调用链追踪、后台任务框架</a:t>
            </a:r>
            <a:endParaRPr sz="1500" b="1">
              <a:solidFill>
                <a:srgbClr val="1F4E79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▪  知识库模块从“6 周开发”变为“1~2 周接入 + 调优”，约省 2~3 人月；平台直接在该代码库上演进</a:t>
            </a:r>
            <a:endParaRPr sz="15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四项关键决策（已定稿）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9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5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39"/>
                <a:gridCol w="475488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决策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结论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配套要求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LLM 供给方式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外部 API，不采购 GPU、不私有化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安全合规评审 + 脱敏网关为硬性前置（M1.1）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TAPD 去留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完全下线，平台内置需求流转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二期一次性迁移存量数据，保留只读归档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云开发工作台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自建（code-server + K8s）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三期前完成基础镜像与资源池方案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试点业务域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银河开单系统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一期前完成代码库接入与知识库索引</a:t>
                      </a:r>
                      <a:endParaRPr sz="14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480560"/>
            <a:ext cx="11338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▪  数据安全底线：代码/需求数据出网前必须经脱敏网关（密钥/敏感字段/个人信息过滤）</a:t>
            </a:r>
            <a:endParaRPr sz="1500" b="1">
              <a:solidFill>
                <a:srgbClr val="C0392B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▪  供应商协议须约定：数据不用于训练、限期删除；AI 调用全量审计留痕</a:t>
            </a:r>
            <a:endParaRPr sz="15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项目计划：7 个月四期交付</a:t>
            </a:r>
            <a:endParaRPr sz="2800" b="1">
              <a:solidFill>
                <a:srgbClr val="1F4E79"/>
              </a:solidFill>
            </a:endParaRPr>
          </a:p>
          <a:p>
            <a:r>
              <a:rPr sz="1300" b="0">
                <a:solidFill>
                  <a:srgbClr val="595959"/>
                </a:solidFill>
              </a:rPr>
              <a:t>每期结束有可用版本</a:t>
            </a:r>
            <a:endParaRPr sz="1300" b="0">
              <a:solidFill>
                <a:srgbClr val="5959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10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5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59"/>
                <a:gridCol w="4206239"/>
                <a:gridCol w="429768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阶段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周期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内容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验收口径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一期 MVP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M1–M2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需求流转 + AI 可行性分析 + 代码知识库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银河开单新需求全走平台；AI 报告上真实评审会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二期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M3–M4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需求/设计/计划生成、TAPD 迁移下线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计划在平台生成管理；TAPD 正式下线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三期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M5–M6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编码 + 云开发工作台（基础版）+ AI 测试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≥30% 中小需求 AI 生成首版代码；用例采纳率 ≥60%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四期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M7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UAT 自动部署、业务验收、效能报表、全量推广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全生命周期平台闭环；效能报表投用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434840"/>
            <a:ext cx="113385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▪  压缩至 7 个月的三个前提：主线只保 P0 · AI 辅助开发约 3 倍人效 · 复用 deepwiki-open 存量</a:t>
            </a:r>
            <a:endParaRPr sz="1500" b="1">
              <a:solidFill>
                <a:srgbClr val="1F4E79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▪  关键路径：代码知识库是三大 Agent 共同前置（一期落地并持续保鲜）；安全合规评审 M1.1 必须闭环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</a:rPr>
              <a:t>▪  弹性机制：人效不达预期 → 顺延 P1 / 云开发工作台，保 P0 主线不动</a:t>
            </a:r>
            <a:endParaRPr sz="1500" b="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一期推进：9 周落地路线</a:t>
            </a:r>
            <a:endParaRPr sz="2800" b="1">
              <a:solidFill>
                <a:srgbClr val="1F4E79"/>
              </a:solidFill>
            </a:endParaRPr>
          </a:p>
          <a:p>
            <a:r>
              <a:rPr sz="1300" b="0">
                <a:solidFill>
                  <a:srgbClr val="595959"/>
                </a:solidFill>
              </a:rPr>
              <a:t>详见《一期推进计划》：双主线并行，评测集先行</a:t>
            </a:r>
            <a:endParaRPr sz="1300" b="0">
              <a:solidFill>
                <a:srgbClr val="5959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11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309360"/>
                <a:gridCol w="3657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周次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关键动作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检查点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W1–W2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300" b="0">
                          <a:solidFill>
                            <a:srgbClr val="262626"/>
                          </a:solidFill>
                        </a:rPr>
                        <a:t>需求文档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/概设/契约定稿；骨架跑通；银河开单全量索引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；</a:t>
                      </a:r>
                      <a:endParaRPr lang="en-US"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安全评审结论 + 索引可检索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W3–W4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需求管理中心（提交/状态机/需求树/权限 SSO）；分析链路铺开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需求管理端到端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W5–W6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分析任务集成（异步+进度推送）；报告生成导出；评审协作；增量索引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全流程走通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W7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10 条银河开单历史需求回放内测；性能/安全测试；部署演练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分析准确率 vs 评测集基线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W8–W9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UAT（3~5 条真实新需求试跑）；真实评审会用报告；上线切换；复盘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逐项验收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892040"/>
            <a:ext cx="11338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▪  平台线（架构师×2 + PM）与 AI 线（AI 工程师 + 测试）并行，W2 定死接口契约、W5 汇合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▪  评测集先行：W1 收集 10~20 条历史需求（含人工结论）做黄金评测集，Agent 质量每轮跑分</a:t>
            </a:r>
            <a:endParaRPr sz="15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资源与预算</a:t>
            </a:r>
            <a:endParaRPr sz="2800" b="1">
              <a:solidFill>
                <a:srgbClr val="1F4E79"/>
              </a:solidFill>
            </a:endParaRPr>
          </a:p>
          <a:p>
            <a:r>
              <a:rPr sz="1300" b="0">
                <a:solidFill>
                  <a:srgbClr val="595959"/>
                </a:solidFill>
              </a:rPr>
              <a:t>5 人团队 × 7 个月 = 35 人月，全程 AI-First 开发</a:t>
            </a:r>
            <a:endParaRPr sz="1300" b="0">
              <a:solidFill>
                <a:srgbClr val="5959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12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55778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254"/>
                <a:gridCol w="845127"/>
                <a:gridCol w="3042458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角色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人数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职责要点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产品经理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1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300" b="0">
                          <a:solidFill>
                            <a:srgbClr val="262626"/>
                          </a:solidFill>
                        </a:rPr>
                        <a:t>使用</a:t>
                      </a:r>
                      <a:r>
                        <a:rPr lang="en-US" altLang="zh-CN" sz="1300" b="0">
                          <a:solidFill>
                            <a:srgbClr val="262626"/>
                          </a:solidFill>
                        </a:rPr>
                        <a:t>AI</a:t>
                      </a:r>
                      <a:r>
                        <a:rPr lang="zh-CN" altLang="en-US" sz="1300" b="0">
                          <a:solidFill>
                            <a:srgbClr val="262626"/>
                          </a:solidFill>
                        </a:rPr>
                        <a:t>管理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需求/项目，兼</a:t>
                      </a:r>
                      <a:r>
                        <a:rPr sz="1300">
                          <a:solidFill>
                            <a:srgbClr val="262626"/>
                          </a:solidFill>
                          <a:sym typeface="+mn-ea"/>
                        </a:rPr>
                        <a:t>全栈开发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架构师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2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zh-CN" sz="1300" b="0">
                          <a:solidFill>
                            <a:srgbClr val="262626"/>
                          </a:solidFill>
                        </a:rPr>
                        <a:t>使用</a:t>
                      </a:r>
                      <a:r>
                        <a:rPr lang="en-US" altLang="zh-CN" sz="1300" b="0">
                          <a:solidFill>
                            <a:srgbClr val="262626"/>
                          </a:solidFill>
                        </a:rPr>
                        <a:t>AI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全栈开发 + 基础设施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工程师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1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Agent/RAG/提示词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资深测试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1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质量把关 + AI 验证体系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280160"/>
          <a:ext cx="54406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381"/>
                <a:gridCol w="184429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非人力预算（首年）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金额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LLM/AI 服务（API+Embedding）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¥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25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~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5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0 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开发工具（团队自用）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¥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2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~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5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 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云资源/硬件（无 GPU）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¥15~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25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 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其他（转写/CI 扩容等）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¥5~1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0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 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合计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≈ ¥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47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~</a:t>
                      </a:r>
                      <a:r>
                        <a:rPr lang="en-US" sz="1300" b="0">
                          <a:solidFill>
                            <a:srgbClr val="262626"/>
                          </a:solidFill>
                        </a:rPr>
                        <a:t>90</a:t>
                      </a:r>
                      <a:r>
                        <a:rPr sz="1300" b="0">
                          <a:solidFill>
                            <a:srgbClr val="262626"/>
                          </a:solidFill>
                        </a:rPr>
                        <a:t> 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343400"/>
            <a:ext cx="11338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▪  35 人月对标传统模式 120+ 人月功能盘子，前提是 AI 辅助约 3 倍人效 + 复用存量能力</a:t>
            </a:r>
            <a:endParaRPr sz="1500" b="1">
              <a:solidFill>
                <a:srgbClr val="C0392B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62626"/>
                </a:solidFill>
              </a:rPr>
              <a:t>▪  无 GPU 一次性大额投入（LLM 走外部 API）；Token 成本按项目/Agent 配额管控、可核算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4E79"/>
                </a:solidFill>
              </a:rPr>
              <a:t>▪  本项目自身就是平台方法论的第一个自举验证：团队 AI 开发人效数据 = 平台效能度量种子样本</a:t>
            </a:r>
            <a:endParaRPr sz="1500" b="0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关键风险与应对（Top 5）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13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914400"/>
                <a:gridCol w="64922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风险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等级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应对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质量不达预期，用户失去信任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高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全部 AI 产出人工把关；采纳率度量 + 反馈闭环；分场景灰度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数据经外部 API 的泄露合规风险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高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M1.1 安全评审硬前置；脱敏网关；供应商协议（不训练/限期删除）；全量审计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代码知识库过期误导评审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高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webhook 增量同步；报告强制标注索引时间/出处/置信度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5 人小团队单点 + 人效不达 3 倍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高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月度人效度量，任一月不达即裁范围或增援；架构师互备；提示词/评测集资产化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用户习惯迁移阻力（弃 TAPD）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中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试点先行验证体验；流转能力对齐并优于 TAPD 再全量切换；高层推动纳入规范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成功指标（KPI）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14</a:t>
            </a:r>
            <a:endParaRPr sz="1000" b="0">
              <a:solidFill>
                <a:srgbClr val="59595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38559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560319"/>
                <a:gridCol w="3108960"/>
              </a:tblGrid>
              <a:tr h="5303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指标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基线（现状）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一期目标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全量目标（M7 上线后）</a:t>
                      </a:r>
                      <a:endParaRPr sz="1300" b="1">
                        <a:solidFill>
                          <a:srgbClr val="FFFFFF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需求可行性评估耗时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1~3 天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≤ 2 小时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≤ 30 分钟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需求平均交付周期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M1 建立基线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建立度量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缩短 ≥ 30%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平台需求流转覆盖率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0%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银河开单 100%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全部门 ≥ 90%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分析报告采纳率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—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≥ 60%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≥ 85%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AI 文档/用例/代码采纳率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—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二期起统计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≥70% / ≥60% / ≥30%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需求返工率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待测量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建立度量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下降 ≥ 20%</a:t>
                      </a:r>
                      <a:endParaRPr sz="1300" b="0">
                        <a:solidFill>
                          <a:srgbClr val="262626"/>
                        </a:solidFill>
                      </a:endParaRPr>
                    </a:p>
                  </a:txBody>
                  <a:tcPr marL="73152" marR="73152" marT="27432" marB="27432" anchor="ctr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请评审决议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279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AI研发管理平台 · 立项评审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</a:rPr>
              <a:t>15</a:t>
            </a:r>
            <a:endParaRPr sz="1000" b="0">
              <a:solidFill>
                <a:srgbClr val="59595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13385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262626"/>
                </a:solidFill>
              </a:rPr>
              <a:t>▪  1. 立项确认：7 个月四期排期 + 范围弹性机制（只保 P0，人效不达即裁 P1）</a:t>
            </a:r>
            <a:endParaRPr sz="1900" b="1">
              <a:solidFill>
                <a:srgbClr val="262626"/>
              </a:solidFill>
            </a:endParaRP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262626"/>
                </a:solidFill>
              </a:rPr>
              <a:t>▪  2. 编制与预算：5 人团队（35 人月）+ 非人力预算 ¥60~140 万额度</a:t>
            </a:r>
            <a:endParaRPr sz="1900" b="1">
              <a:solidFill>
                <a:srgbClr val="262626"/>
              </a:solidFill>
            </a:endParaRP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262626"/>
                </a:solidFill>
              </a:rPr>
              <a:t>▪  3. 安全合规：安全团队评审排期承诺（一期第 2 周内出结论，为硬性卡点）</a:t>
            </a:r>
            <a:endParaRPr sz="1900" b="1">
              <a:solidFill>
                <a:srgbClr val="262626"/>
              </a:solidFill>
            </a:endParaRP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262626"/>
                </a:solidFill>
              </a:rPr>
              <a:t>▪  4. 试点配合：银河开单代码库只读权限 + 业务方接口人（本周内落实）</a:t>
            </a:r>
            <a:endParaRPr sz="1900" b="1">
              <a:solidFill>
                <a:srgbClr val="26262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4846320"/>
            <a:ext cx="11338560" cy="11887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评审通过后即启动 Week 0 前置清单（代码库权限 / LLM 账号 / 环境资源 / 历史需求样本收集），第 1 周正式开工。</a:t>
            </a:r>
            <a:endParaRPr sz="15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5039</Words>
  <Application>WPS 表格</Application>
  <PresentationFormat>On-screen Show (4:3)</PresentationFormat>
  <Paragraphs>569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宋体</vt:lpstr>
      <vt:lpstr>微软雅黑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zouyang</cp:lastModifiedBy>
  <cp:revision>3</cp:revision>
  <dcterms:created xsi:type="dcterms:W3CDTF">2026-07-07T03:40:28Z</dcterms:created>
  <dcterms:modified xsi:type="dcterms:W3CDTF">2026-07-07T03:40:28Z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BB22123B8B841C57086E4C6A97C5C81A_42</vt:lpwstr>
  </property>
</Properties>
</file>